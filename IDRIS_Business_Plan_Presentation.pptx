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charts/chart1.xml" ContentType="application/vnd.openxmlformats-officedocument.drawingml.chart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charts/chart2.xml" ContentType="application/vnd.openxmlformats-officedocument.drawingml.chart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catAx>
        <c:axId val="2094734554"/>
        <c:scaling>
          <c:orientation val="minMax"/>
        </c:scaling>
        <c:delete val="0"/>
        <c:axPos val="b"/>
        <c:title>
          <c:tx>
            <c:rich>
              <a:bodyPr/>
              <a:lstStyle/>
              <a:p>
                <a:pPr>
                  <a:defRPr b="0" i="0" u="none" strike="noStrike">
                    <a:solidFill>
                      <a:srgbClr val="000000"/>
                    </a:solidFill>
                    <a:latin typeface="Arial"/>
                  </a:defRPr>
                </a:pPr>
                <a:r>
                  <a:rPr b="0" i="0" u="none" strike="noStrike">
                    <a:solidFill>
                      <a:srgbClr val="000000"/>
                    </a:solidFill>
                    <a:latin typeface="Arial"/>
                  </a:rPr>
                  <a:t>Scenario</a:t>
                </a:r>
              </a:p>
            </c:rich>
          </c:tx>
          <c:layout/>
          <c:overlay val="0"/>
        </c:title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550"/>
          <c:min val="0"/>
        </c:scaling>
        <c:delete val="0"/>
        <c:axPos val="l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title>
          <c:tx>
            <c:rich>
              <a:bodyPr/>
              <a:lstStyle/>
              <a:p>
                <a:pPr>
                  <a:defRPr b="0" i="0" u="none" strike="noStrike">
                    <a:solidFill>
                      <a:srgbClr val="000000"/>
                    </a:solidFill>
                    <a:latin typeface="Arial"/>
                  </a:defRPr>
                </a:pPr>
                <a:r>
                  <a:rPr b="0" i="0" u="none" strike="noStrike">
                    <a:solidFill>
                      <a:srgbClr val="000000"/>
                    </a:solidFill>
                    <a:latin typeface="Arial"/>
                  </a:rPr>
                  <a:t>Revenue ($K)</a:t>
                </a:r>
              </a:p>
            </c:rich>
          </c:tx>
          <c:layout/>
          <c:overlay val="0"/>
        </c:title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  <c:majorUnit val="100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Startup Costs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1E3A8A"/>
              </a:solidFill>
              <a:effectLst/>
            </c:spPr>
          </c:dPt>
          <c:dPt>
            <c:idx val="1"/>
            <c:bubble3D val="0"/>
            <c:spPr>
              <a:solidFill>
                <a:srgbClr val="0E7490"/>
              </a:solidFill>
              <a:effectLst/>
            </c:spPr>
          </c:dPt>
          <c:dPt>
            <c:idx val="2"/>
            <c:bubble3D val="0"/>
            <c:spPr>
              <a:solidFill>
                <a:srgbClr val="3B82F6"/>
              </a:solidFill>
              <a:effectLst/>
            </c:spPr>
          </c:dPt>
          <c:dPt>
            <c:idx val="3"/>
            <c:bubble3D val="0"/>
            <c:spPr>
              <a:solidFill>
                <a:srgbClr val="06B6D4"/>
              </a:solidFill>
              <a:effectLst/>
            </c:spPr>
          </c:dPt>
          <c:dPt>
            <c:idx val="4"/>
            <c:bubble3D val="0"/>
            <c:spPr>
              <a:solidFill>
                <a:srgbClr val="14B8A6"/>
              </a:solidFill>
              <a:effectLst/>
            </c:spPr>
          </c:dPt>
          <c:dPt>
            <c:idx val="5"/>
            <c:bubble3D val="0"/>
            <c:spPr>
              <a:solidFill>
                <a:srgbClr val="10B981"/>
              </a:solidFill>
              <a:effectLst/>
            </c:spPr>
          </c:dPt>
          <c:dLbls>
            <c:dLbl>
              <c:idx val="0"/>
              <c:numFmt formatCode="0%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1"/>
              <c:numFmt formatCode="0%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2"/>
              <c:numFmt formatCode="0%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3"/>
              <c:numFmt formatCode="0%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4"/>
              <c:numFmt formatCode="0%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5"/>
              <c:numFmt formatCode="0%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numFmt formatCode="0%" sourceLinked="0"/>
            <c:txPr>
              <a:bodyPr/>
              <a:lstStyle/>
              <a:p>
                <a:pPr>
                  <a:defRPr sz="1800" b="0" i="0" u="none" strike="noStrik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dLblPos val="ctr"/>
            <c:showLegendKey val="0"/>
            <c:showVal val="0"/>
            <c:showCatName val="1"/>
            <c:showSerName val="0"/>
            <c:showPercent val="1"/>
            <c:showBubbleSize val="0"/>
            <c:showLeaderLines val="0"/>
          </c:dLbls>
          <c:cat>
            <c:strRef>
              <c:f>Sheet1!$A$2:$A$7</c:f>
              <c:strCache>
                <c:ptCount val="6"/>
                <c:pt idx="0">
                  <c:v>Operating Reserve</c:v>
                </c:pt>
                <c:pt idx="1">
                  <c:v>Operations</c:v>
                </c:pt>
                <c:pt idx="2">
                  <c:v>Legal</c:v>
                </c:pt>
                <c:pt idx="3">
                  <c:v>Marketing</c:v>
                </c:pt>
                <c:pt idx="4">
                  <c:v>Branding</c:v>
                </c:pt>
                <c:pt idx="5">
                  <c:v>Tools</c:v>
                </c:pt>
              </c:strCache>
            </c:strRef>
          </c:cat>
          <c:val>
            <c:numRef>
              <c:f>Sheet1!$B$2:$B$7</c:f>
              <c:numCache>
                <c:ptCount val="6"/>
                <c:pt idx="0">
                  <c:v>6500</c:v>
                </c:pt>
                <c:pt idx="1">
                  <c:v>4700</c:v>
                </c:pt>
                <c:pt idx="2">
                  <c:v>4030</c:v>
                </c:pt>
                <c:pt idx="3">
                  <c:v>3080</c:v>
                </c:pt>
                <c:pt idx="4">
                  <c:v>1204</c:v>
                </c:pt>
                <c:pt idx="5">
                  <c:v>506</c:v>
                </c:pt>
              </c:numCache>
            </c:numRef>
          </c:val>
        </c:ser>
        <c:firstSliceAng val="0"/>
      </c:pieChart>
      <c:spPr>
        <a:noFill/>
        <a:ln>
          <a:noFill/>
        </a:ln>
        <a:effectLst/>
      </c:spPr>
    </c:plotArea>
    <c:legend>
      <c:legendPos val="r"/>
      <c:overlay val="0"/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3A8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730764" y="1409700"/>
            <a:ext cx="368217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7200"/>
              </a:lnSpc>
              <a:spcAft>
                <a:spcPts val="1200"/>
              </a:spcAft>
              <a:buNone/>
            </a:pPr>
            <a:r>
              <a:rPr lang="en-US" sz="7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IDRIS</a:t>
            </a:r>
            <a:endParaRPr lang="en-US" sz="7200" dirty="0"/>
          </a:p>
        </p:txBody>
      </p:sp>
      <p:sp>
        <p:nvSpPr>
          <p:cNvPr id="3" name="Text 1"/>
          <p:cNvSpPr/>
          <p:nvPr/>
        </p:nvSpPr>
        <p:spPr>
          <a:xfrm>
            <a:off x="898176" y="2476500"/>
            <a:ext cx="7347499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400"/>
              </a:lnSpc>
              <a:spcBef>
                <a:spcPts val="300"/>
              </a:spcBef>
              <a:spcAft>
                <a:spcPts val="2400"/>
              </a:spcAft>
              <a:buNone/>
            </a:pPr>
            <a:r>
              <a:rPr lang="en-US" sz="1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INSTITUTE FOR DATA-DRIVEN RESEARCH &amp; INNOVATION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3619351" y="3086100"/>
            <a:ext cx="1905000" cy="38100"/>
          </a:xfrm>
          <a:prstGeom prst="rect">
            <a:avLst/>
          </a:prstGeom>
          <a:solidFill>
            <a:srgbClr val="0E749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898176" y="3429000"/>
            <a:ext cx="7347499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10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5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From Data to Discovery — At Scale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355522" y="4724400"/>
            <a:ext cx="2598744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50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0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Business Plan Presentation | January 2026</a:t>
            </a:r>
            <a:endParaRPr lang="en-US" sz="10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28600" y="228600"/>
            <a:ext cx="4245674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000"/>
              </a:lnSpc>
              <a:spcAft>
                <a:spcPts val="300"/>
              </a:spcAft>
              <a:buNone/>
            </a:pPr>
            <a:r>
              <a:rPr lang="en-US" sz="2700" b="1" dirty="0">
                <a:solidFill>
                  <a:srgbClr val="1E3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Opportunity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228600" y="647700"/>
            <a:ext cx="762000" cy="28575"/>
          </a:xfrm>
          <a:prstGeom prst="rect">
            <a:avLst/>
          </a:prstGeom>
          <a:solidFill>
            <a:srgbClr val="0E749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381000" y="1100138"/>
            <a:ext cx="4023271" cy="1219200"/>
          </a:xfrm>
          <a:prstGeom prst="roundRect">
            <a:avLst>
              <a:gd name="adj" fmla="val 5000"/>
            </a:avLst>
          </a:prstGeom>
          <a:solidFill>
            <a:srgbClr val="ECFE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533400" y="1290638"/>
            <a:ext cx="379284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4500"/>
              </a:lnSpc>
              <a:spcBef>
                <a:spcPts val="300"/>
              </a:spcBef>
              <a:spcAft>
                <a:spcPts val="600"/>
              </a:spcAft>
              <a:buNone/>
            </a:pPr>
            <a:r>
              <a:rPr lang="en-US" sz="4500" b="1" dirty="0">
                <a:solidFill>
                  <a:srgbClr val="1E3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$2.8B+</a:t>
            </a:r>
            <a:endParaRPr lang="en-US" sz="4500" dirty="0"/>
          </a:p>
        </p:txBody>
      </p:sp>
      <p:sp>
        <p:nvSpPr>
          <p:cNvPr id="6" name="Text 4"/>
          <p:cNvSpPr/>
          <p:nvPr/>
        </p:nvSpPr>
        <p:spPr>
          <a:xfrm>
            <a:off x="533400" y="1938337"/>
            <a:ext cx="379284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0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0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Scientific research software market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381000" y="2471738"/>
            <a:ext cx="4023271" cy="1219200"/>
          </a:xfrm>
          <a:prstGeom prst="roundRect">
            <a:avLst>
              <a:gd name="adj" fmla="val 5000"/>
            </a:avLst>
          </a:prstGeom>
          <a:solidFill>
            <a:srgbClr val="ECFE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533400" y="2662238"/>
            <a:ext cx="379284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4500"/>
              </a:lnSpc>
              <a:spcBef>
                <a:spcPts val="300"/>
              </a:spcBef>
              <a:spcAft>
                <a:spcPts val="600"/>
              </a:spcAft>
              <a:buNone/>
            </a:pPr>
            <a:r>
              <a:rPr lang="en-US" sz="4500" b="1" dirty="0">
                <a:solidFill>
                  <a:srgbClr val="1E3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12-15%</a:t>
            </a:r>
            <a:endParaRPr lang="en-US" sz="4500" dirty="0"/>
          </a:p>
        </p:txBody>
      </p:sp>
      <p:sp>
        <p:nvSpPr>
          <p:cNvPr id="9" name="Text 7"/>
          <p:cNvSpPr/>
          <p:nvPr/>
        </p:nvSpPr>
        <p:spPr>
          <a:xfrm>
            <a:off x="533400" y="3309938"/>
            <a:ext cx="379284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0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0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Annual market growth rate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381000" y="3843338"/>
            <a:ext cx="4023271" cy="1219200"/>
          </a:xfrm>
          <a:prstGeom prst="roundRect">
            <a:avLst>
              <a:gd name="adj" fmla="val 5000"/>
            </a:avLst>
          </a:prstGeom>
          <a:solidFill>
            <a:srgbClr val="ECFE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1" name="Text 9"/>
          <p:cNvSpPr/>
          <p:nvPr/>
        </p:nvSpPr>
        <p:spPr>
          <a:xfrm>
            <a:off x="533400" y="4033837"/>
            <a:ext cx="379284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4500"/>
              </a:lnSpc>
              <a:spcBef>
                <a:spcPts val="300"/>
              </a:spcBef>
              <a:spcAft>
                <a:spcPts val="600"/>
              </a:spcAft>
              <a:buNone/>
            </a:pPr>
            <a:r>
              <a:rPr lang="en-US" sz="4500" b="1" dirty="0">
                <a:solidFill>
                  <a:srgbClr val="1E3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89%</a:t>
            </a:r>
            <a:endParaRPr lang="en-US" sz="4500" dirty="0"/>
          </a:p>
        </p:txBody>
      </p:sp>
      <p:sp>
        <p:nvSpPr>
          <p:cNvPr id="12" name="Text 10"/>
          <p:cNvSpPr/>
          <p:nvPr/>
        </p:nvSpPr>
        <p:spPr>
          <a:xfrm>
            <a:off x="533400" y="4681538"/>
            <a:ext cx="379284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0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0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Institutions report inadequate support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4556671" y="1700213"/>
            <a:ext cx="4103736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00"/>
              </a:lnSpc>
              <a:spcAft>
                <a:spcPts val="900"/>
              </a:spcAft>
              <a:buNone/>
            </a:pPr>
            <a:r>
              <a:rPr lang="en-US" sz="1500" b="1" dirty="0">
                <a:solidFill>
                  <a:srgbClr val="1E3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Market Drivers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4556671" y="2081212"/>
            <a:ext cx="4103736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0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050" b="1" dirty="0">
                <a:solidFill>
                  <a:srgbClr val="0E74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NIH/NSF Mandates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4556671" y="2309813"/>
            <a:ext cx="4103736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0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0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 sharing and reproducibility requirements create urgent compliance needs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4556671" y="2786063"/>
            <a:ext cx="4103736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0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050" b="1" dirty="0">
                <a:solidFill>
                  <a:srgbClr val="0E74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Reproducibility Crisis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4556671" y="3014663"/>
            <a:ext cx="4103736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0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0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Growing demand for better research computing practices and documentation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4556671" y="3490913"/>
            <a:ext cx="4103736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0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050" b="1" dirty="0">
                <a:solidFill>
                  <a:srgbClr val="0E74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Research Software Engineer Shortage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4556671" y="3719512"/>
            <a:ext cx="4103736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0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0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Roles growing 20%+ annually, institutions can't hire fast enough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4556671" y="4005262"/>
            <a:ext cx="4103736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0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050" b="1" dirty="0">
                <a:solidFill>
                  <a:srgbClr val="0E74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Expanding Data Volumes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4556671" y="4233863"/>
            <a:ext cx="4103736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0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0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HPC and cloud computing adoption creating expertise gaps</a:t>
            </a:r>
            <a:endParaRPr lang="en-US" sz="10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28600" y="228600"/>
            <a:ext cx="4245674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000"/>
              </a:lnSpc>
              <a:spcAft>
                <a:spcPts val="300"/>
              </a:spcAft>
              <a:buNone/>
            </a:pPr>
            <a:r>
              <a:rPr lang="en-US" sz="2700" b="1" dirty="0">
                <a:solidFill>
                  <a:srgbClr val="1E3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Solution: IDRIS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228600" y="647700"/>
            <a:ext cx="762000" cy="28575"/>
          </a:xfrm>
          <a:prstGeom prst="rect">
            <a:avLst/>
          </a:prstGeom>
          <a:solidFill>
            <a:srgbClr val="0E749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381000" y="1057275"/>
            <a:ext cx="8549640" cy="5485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300"/>
              </a:spcBef>
              <a:spcAft>
                <a:spcPts val="1800"/>
              </a:spcAft>
              <a:buNone/>
            </a:pPr>
            <a:r>
              <a:rPr lang="en-US" sz="135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Research computing consultancy serving academic institutions, research centers, and health organizations through reproducible software engineering, scalable data pipelines, and advanced computing infrastructure.</a:t>
            </a:r>
            <a:endParaRPr lang="en-US" sz="1350" dirty="0"/>
          </a:p>
        </p:txBody>
      </p:sp>
      <p:sp>
        <p:nvSpPr>
          <p:cNvPr id="5" name="Text 3"/>
          <p:cNvSpPr/>
          <p:nvPr/>
        </p:nvSpPr>
        <p:spPr>
          <a:xfrm>
            <a:off x="381000" y="1834455"/>
            <a:ext cx="2692450" cy="1371600"/>
          </a:xfrm>
          <a:prstGeom prst="roundRect">
            <a:avLst>
              <a:gd name="adj" fmla="val 4444"/>
            </a:avLst>
          </a:prstGeom>
          <a:solidFill>
            <a:srgbClr val="1E3A8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533400" y="2024955"/>
            <a:ext cx="2435403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000"/>
              </a:lnSpc>
              <a:spcBef>
                <a:spcPts val="300"/>
              </a:spcBef>
              <a:spcAft>
                <a:spcPts val="600"/>
              </a:spcAft>
              <a:buNone/>
            </a:pPr>
            <a:r>
              <a:rPr lang="en-US" sz="2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⚙️</a:t>
            </a:r>
            <a:endParaRPr lang="en-US" sz="2700" dirty="0"/>
          </a:p>
        </p:txBody>
      </p:sp>
      <p:sp>
        <p:nvSpPr>
          <p:cNvPr id="7" name="Text 5"/>
          <p:cNvSpPr/>
          <p:nvPr/>
        </p:nvSpPr>
        <p:spPr>
          <a:xfrm>
            <a:off x="533400" y="2482155"/>
            <a:ext cx="2435403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0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0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Research Software Engineering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533400" y="2710755"/>
            <a:ext cx="2435403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0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9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Reproducible pipelines, workflows, containerization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3225850" y="1834455"/>
            <a:ext cx="2692450" cy="1371600"/>
          </a:xfrm>
          <a:prstGeom prst="roundRect">
            <a:avLst>
              <a:gd name="adj" fmla="val 4444"/>
            </a:avLst>
          </a:prstGeom>
          <a:solidFill>
            <a:srgbClr val="1E3A8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3378250" y="2024955"/>
            <a:ext cx="2435403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000"/>
              </a:lnSpc>
              <a:spcBef>
                <a:spcPts val="300"/>
              </a:spcBef>
              <a:spcAft>
                <a:spcPts val="600"/>
              </a:spcAft>
              <a:buNone/>
            </a:pPr>
            <a:r>
              <a:rPr lang="en-US" sz="2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🧬</a:t>
            </a:r>
            <a:endParaRPr lang="en-US" sz="2700" dirty="0"/>
          </a:p>
        </p:txBody>
      </p:sp>
      <p:sp>
        <p:nvSpPr>
          <p:cNvPr id="11" name="Text 9"/>
          <p:cNvSpPr/>
          <p:nvPr/>
        </p:nvSpPr>
        <p:spPr>
          <a:xfrm>
            <a:off x="3378250" y="2482155"/>
            <a:ext cx="2435403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0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0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Bioinformatics &amp; Comp Bio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3378250" y="2710755"/>
            <a:ext cx="2435403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0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9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NGS pipelines, multi-omics, genomics workflows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6070699" y="1834455"/>
            <a:ext cx="2692450" cy="1371600"/>
          </a:xfrm>
          <a:prstGeom prst="roundRect">
            <a:avLst>
              <a:gd name="adj" fmla="val 4444"/>
            </a:avLst>
          </a:prstGeom>
          <a:solidFill>
            <a:srgbClr val="1E3A8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4" name="Text 12"/>
          <p:cNvSpPr/>
          <p:nvPr/>
        </p:nvSpPr>
        <p:spPr>
          <a:xfrm>
            <a:off x="6223099" y="2024955"/>
            <a:ext cx="2435403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000"/>
              </a:lnSpc>
              <a:spcBef>
                <a:spcPts val="300"/>
              </a:spcBef>
              <a:spcAft>
                <a:spcPts val="600"/>
              </a:spcAft>
              <a:buNone/>
            </a:pPr>
            <a:r>
              <a:rPr lang="en-US" sz="2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🖥️</a:t>
            </a:r>
            <a:endParaRPr lang="en-US" sz="2700" dirty="0"/>
          </a:p>
        </p:txBody>
      </p:sp>
      <p:sp>
        <p:nvSpPr>
          <p:cNvPr id="15" name="Text 13"/>
          <p:cNvSpPr/>
          <p:nvPr/>
        </p:nvSpPr>
        <p:spPr>
          <a:xfrm>
            <a:off x="6223099" y="2482155"/>
            <a:ext cx="2435403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0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0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HPC &amp; Research Computing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6223099" y="2710755"/>
            <a:ext cx="2435403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0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9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Infrastructure optimization, container deployment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381000" y="3434655"/>
            <a:ext cx="2692450" cy="1219200"/>
          </a:xfrm>
          <a:prstGeom prst="roundRect">
            <a:avLst>
              <a:gd name="adj" fmla="val 5000"/>
            </a:avLst>
          </a:prstGeom>
          <a:solidFill>
            <a:srgbClr val="0E749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8" name="Text 16"/>
          <p:cNvSpPr/>
          <p:nvPr/>
        </p:nvSpPr>
        <p:spPr>
          <a:xfrm>
            <a:off x="533400" y="3625155"/>
            <a:ext cx="2435403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000"/>
              </a:lnSpc>
              <a:spcBef>
                <a:spcPts val="300"/>
              </a:spcBef>
              <a:spcAft>
                <a:spcPts val="600"/>
              </a:spcAft>
              <a:buNone/>
            </a:pPr>
            <a:r>
              <a:rPr lang="en-US" sz="2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📊</a:t>
            </a:r>
            <a:endParaRPr lang="en-US" sz="2700" dirty="0"/>
          </a:p>
        </p:txBody>
      </p:sp>
      <p:sp>
        <p:nvSpPr>
          <p:cNvPr id="19" name="Text 17"/>
          <p:cNvSpPr/>
          <p:nvPr/>
        </p:nvSpPr>
        <p:spPr>
          <a:xfrm>
            <a:off x="533400" y="4082355"/>
            <a:ext cx="2435403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0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0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 Science &amp; Analytics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533400" y="4310955"/>
            <a:ext cx="2435403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0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9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Statistical pipelines, visualization dashboards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3225850" y="3434655"/>
            <a:ext cx="2692450" cy="1219200"/>
          </a:xfrm>
          <a:prstGeom prst="roundRect">
            <a:avLst>
              <a:gd name="adj" fmla="val 5000"/>
            </a:avLst>
          </a:prstGeom>
          <a:solidFill>
            <a:srgbClr val="0E749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2" name="Text 20"/>
          <p:cNvSpPr/>
          <p:nvPr/>
        </p:nvSpPr>
        <p:spPr>
          <a:xfrm>
            <a:off x="3378250" y="3625155"/>
            <a:ext cx="2435403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000"/>
              </a:lnSpc>
              <a:spcBef>
                <a:spcPts val="300"/>
              </a:spcBef>
              <a:spcAft>
                <a:spcPts val="600"/>
              </a:spcAft>
              <a:buNone/>
            </a:pPr>
            <a:r>
              <a:rPr lang="en-US" sz="2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📚</a:t>
            </a:r>
            <a:endParaRPr lang="en-US" sz="2700" dirty="0"/>
          </a:p>
        </p:txBody>
      </p:sp>
      <p:sp>
        <p:nvSpPr>
          <p:cNvPr id="23" name="Text 21"/>
          <p:cNvSpPr/>
          <p:nvPr/>
        </p:nvSpPr>
        <p:spPr>
          <a:xfrm>
            <a:off x="3378250" y="4082355"/>
            <a:ext cx="2435403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0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0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Training &amp; Enablement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3378250" y="4310955"/>
            <a:ext cx="2435403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0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9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Workshops, documentation, best practices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6070699" y="3358455"/>
            <a:ext cx="2692450" cy="1371600"/>
          </a:xfrm>
          <a:prstGeom prst="roundRect">
            <a:avLst>
              <a:gd name="adj" fmla="val 4444"/>
            </a:avLst>
          </a:prstGeom>
          <a:solidFill>
            <a:srgbClr val="0E749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6" name="Text 24"/>
          <p:cNvSpPr/>
          <p:nvPr/>
        </p:nvSpPr>
        <p:spPr>
          <a:xfrm>
            <a:off x="6223099" y="3548955"/>
            <a:ext cx="2435403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000"/>
              </a:lnSpc>
              <a:spcBef>
                <a:spcPts val="300"/>
              </a:spcBef>
              <a:spcAft>
                <a:spcPts val="600"/>
              </a:spcAft>
              <a:buNone/>
            </a:pPr>
            <a:r>
              <a:rPr lang="en-US" sz="2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🤝</a:t>
            </a:r>
            <a:endParaRPr lang="en-US" sz="2700" dirty="0"/>
          </a:p>
        </p:txBody>
      </p:sp>
      <p:sp>
        <p:nvSpPr>
          <p:cNvPr id="27" name="Text 25"/>
          <p:cNvSpPr/>
          <p:nvPr/>
        </p:nvSpPr>
        <p:spPr>
          <a:xfrm>
            <a:off x="6223099" y="4006155"/>
            <a:ext cx="2435403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0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0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Retainer Support</a:t>
            </a:r>
            <a:endParaRPr lang="en-US" sz="1050" dirty="0"/>
          </a:p>
        </p:txBody>
      </p:sp>
      <p:sp>
        <p:nvSpPr>
          <p:cNvPr id="28" name="Text 26"/>
          <p:cNvSpPr/>
          <p:nvPr/>
        </p:nvSpPr>
        <p:spPr>
          <a:xfrm>
            <a:off x="6223099" y="4234755"/>
            <a:ext cx="2435403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0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9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Ongoing advisory, quarterly reviews, continuous improvement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28600" y="228600"/>
            <a:ext cx="4644009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000"/>
              </a:lnSpc>
              <a:spcAft>
                <a:spcPts val="300"/>
              </a:spcAft>
              <a:buNone/>
            </a:pPr>
            <a:r>
              <a:rPr lang="en-US" sz="2700" b="1" dirty="0">
                <a:solidFill>
                  <a:srgbClr val="1E3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Exceptional Founding Team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228600" y="647700"/>
            <a:ext cx="762000" cy="28575"/>
          </a:xfrm>
          <a:prstGeom prst="rect">
            <a:avLst/>
          </a:prstGeom>
          <a:solidFill>
            <a:srgbClr val="0E749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381000" y="1519238"/>
            <a:ext cx="4023271" cy="3124200"/>
          </a:xfrm>
          <a:prstGeom prst="roundRect">
            <a:avLst>
              <a:gd name="adj" fmla="val 2439"/>
            </a:avLst>
          </a:prstGeom>
          <a:solidFill>
            <a:srgbClr val="F8FAFC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Shape 3"/>
          <p:cNvSpPr/>
          <p:nvPr/>
        </p:nvSpPr>
        <p:spPr>
          <a:xfrm>
            <a:off x="400050" y="1519238"/>
            <a:ext cx="0" cy="3124200"/>
          </a:xfrm>
          <a:prstGeom prst="line">
            <a:avLst/>
          </a:prstGeom>
          <a:noFill/>
          <a:ln w="38100">
            <a:solidFill>
              <a:srgbClr val="1E3A8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09600" y="1709738"/>
            <a:ext cx="1845945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400"/>
              </a:lnSpc>
              <a:spcAft>
                <a:spcPts val="900"/>
              </a:spcAft>
              <a:buNone/>
            </a:pPr>
            <a:r>
              <a:rPr lang="en-US" sz="1800" b="1" dirty="0">
                <a:solidFill>
                  <a:srgbClr val="1E3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Swabir Silayi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609600" y="2128838"/>
            <a:ext cx="3676254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00"/>
              </a:lnSpc>
              <a:spcBef>
                <a:spcPts val="300"/>
              </a:spcBef>
              <a:spcAft>
                <a:spcPts val="900"/>
              </a:spcAft>
              <a:buNone/>
            </a:pPr>
            <a:r>
              <a:rPr lang="en-US" sz="1050" b="1" dirty="0">
                <a:solidFill>
                  <a:srgbClr val="0E74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CEO / Co-Founder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609600" y="2433638"/>
            <a:ext cx="3676254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00"/>
              </a:lnSpc>
              <a:spcBef>
                <a:spcPts val="300"/>
              </a:spcBef>
              <a:spcAft>
                <a:spcPts val="900"/>
              </a:spcAft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PhD Computational Sciences (GMU) | Computational Research Specialist | Adjunct Professor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609600" y="2852738"/>
            <a:ext cx="3676254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0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05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Core Strengths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609600" y="3081338"/>
            <a:ext cx="3676254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0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HPC infrastructure &amp; research software engineering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609600" y="3271838"/>
            <a:ext cx="3676254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0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Physics &amp; materials science domain expertise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609600" y="3462338"/>
            <a:ext cx="3676254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0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Software Carpentries instructor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609600" y="3652838"/>
            <a:ext cx="3676254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0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Currently serving 200+ GMU researchers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609600" y="3881438"/>
            <a:ext cx="3676254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0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05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Network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609600" y="4110038"/>
            <a:ext cx="3676254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0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SC, PEARC, ACCESS conferences | HPC community | GMU research ecosystem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4556671" y="1595438"/>
            <a:ext cx="4023271" cy="2971800"/>
          </a:xfrm>
          <a:prstGeom prst="roundRect">
            <a:avLst>
              <a:gd name="adj" fmla="val 2564"/>
            </a:avLst>
          </a:prstGeom>
          <a:solidFill>
            <a:srgbClr val="F8FAFC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7" name="Shape 15"/>
          <p:cNvSpPr/>
          <p:nvPr/>
        </p:nvSpPr>
        <p:spPr>
          <a:xfrm>
            <a:off x="4575721" y="1595438"/>
            <a:ext cx="0" cy="2971800"/>
          </a:xfrm>
          <a:prstGeom prst="line">
            <a:avLst/>
          </a:prstGeom>
          <a:noFill/>
          <a:ln w="38100">
            <a:solidFill>
              <a:srgbClr val="0E749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785271" y="1785938"/>
            <a:ext cx="1845945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400"/>
              </a:lnSpc>
              <a:spcAft>
                <a:spcPts val="900"/>
              </a:spcAft>
              <a:buNone/>
            </a:pPr>
            <a:r>
              <a:rPr lang="en-US" sz="1800" b="1" dirty="0">
                <a:solidFill>
                  <a:srgbClr val="0E74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Sanae Moummi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4785271" y="2205038"/>
            <a:ext cx="3676254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00"/>
              </a:lnSpc>
              <a:spcBef>
                <a:spcPts val="300"/>
              </a:spcBef>
              <a:spcAft>
                <a:spcPts val="900"/>
              </a:spcAft>
              <a:buNone/>
            </a:pPr>
            <a:r>
              <a:rPr lang="en-US" sz="1050" b="1" dirty="0">
                <a:solidFill>
                  <a:srgbClr val="1E3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CTO / Co-Founder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4785271" y="2509838"/>
            <a:ext cx="3676254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00"/>
              </a:lnSpc>
              <a:spcBef>
                <a:spcPts val="300"/>
              </a:spcBef>
              <a:spcAft>
                <a:spcPts val="900"/>
              </a:spcAft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PhD Chemistry &amp; Biochemistry (GMU) | Computational Chemist | Entrepreneurial Experience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4785271" y="2928938"/>
            <a:ext cx="3676254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0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05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Core Strengths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4785271" y="3157538"/>
            <a:ext cx="3676254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0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Experimental + computational hybrid (RARE!)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4785271" y="3348038"/>
            <a:ext cx="3676254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0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Chemistry, life sciences, drug discovery expertise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4785271" y="3538538"/>
            <a:ext cx="3676254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0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HPC/DFT calculations on research clusters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4785271" y="3729038"/>
            <a:ext cx="3676254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0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Solubl ML platform (pitch competition winner)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4785271" y="3957638"/>
            <a:ext cx="3676254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0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05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Network</a:t>
            </a:r>
            <a:endParaRPr lang="en-US" sz="1050" dirty="0"/>
          </a:p>
        </p:txBody>
      </p:sp>
      <p:sp>
        <p:nvSpPr>
          <p:cNvPr id="27" name="Text 25"/>
          <p:cNvSpPr/>
          <p:nvPr/>
        </p:nvSpPr>
        <p:spPr>
          <a:xfrm>
            <a:off x="4785271" y="4186238"/>
            <a:ext cx="3676254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0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ACS, ECS, Women in HPC | Chemistry research community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381000" y="4762500"/>
            <a:ext cx="3550408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0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⭐⭐⭐⭐⭐ (5/5) Team Rating - Exceptional Complementary Skills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28600" y="228600"/>
            <a:ext cx="4245674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000"/>
              </a:lnSpc>
              <a:spcAft>
                <a:spcPts val="300"/>
              </a:spcAft>
              <a:buNone/>
            </a:pPr>
            <a:r>
              <a:rPr lang="en-US" sz="2700" b="1" dirty="0">
                <a:solidFill>
                  <a:srgbClr val="1E3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This Team Works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228600" y="647700"/>
            <a:ext cx="762000" cy="28575"/>
          </a:xfrm>
          <a:prstGeom prst="rect">
            <a:avLst/>
          </a:prstGeom>
          <a:solidFill>
            <a:srgbClr val="0E749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381000" y="2281238"/>
            <a:ext cx="4103736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00"/>
              </a:lnSpc>
              <a:spcAft>
                <a:spcPts val="900"/>
              </a:spcAft>
              <a:buNone/>
            </a:pPr>
            <a:r>
              <a:rPr lang="en-US" sz="1350" b="1" dirty="0">
                <a:solidFill>
                  <a:srgbClr val="1E3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Complementary Domains</a:t>
            </a:r>
            <a:endParaRPr lang="en-US" sz="1350" dirty="0"/>
          </a:p>
        </p:txBody>
      </p:sp>
      <p:sp>
        <p:nvSpPr>
          <p:cNvPr id="5" name="Text 3"/>
          <p:cNvSpPr/>
          <p:nvPr/>
        </p:nvSpPr>
        <p:spPr>
          <a:xfrm>
            <a:off x="381000" y="2662238"/>
            <a:ext cx="4023271" cy="381000"/>
          </a:xfrm>
          <a:prstGeom prst="roundRect">
            <a:avLst>
              <a:gd name="adj" fmla="val 16000"/>
            </a:avLst>
          </a:prstGeom>
          <a:solidFill>
            <a:srgbClr val="ECFE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381000" y="2662238"/>
            <a:ext cx="4103736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0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05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Swabir → Physics, Materials, HPC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381000" y="2890838"/>
            <a:ext cx="4103736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0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NSF ecosystem ($9B/year)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381000" y="3157538"/>
            <a:ext cx="4023271" cy="381000"/>
          </a:xfrm>
          <a:prstGeom prst="roundRect">
            <a:avLst>
              <a:gd name="adj" fmla="val 16000"/>
            </a:avLst>
          </a:prstGeom>
          <a:solidFill>
            <a:srgbClr val="ECFE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" name="Text 7"/>
          <p:cNvSpPr/>
          <p:nvPr/>
        </p:nvSpPr>
        <p:spPr>
          <a:xfrm>
            <a:off x="381000" y="3157538"/>
            <a:ext cx="4103736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0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05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Sanae → Chemistry, Life Sciences, Drug Discovery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381000" y="3386138"/>
            <a:ext cx="4103736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0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NIH ecosystem ($47B/year)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381000" y="3652838"/>
            <a:ext cx="4023271" cy="190500"/>
          </a:xfrm>
          <a:prstGeom prst="roundRect">
            <a:avLst>
              <a:gd name="adj" fmla="val 32000"/>
            </a:avLst>
          </a:prstGeom>
          <a:solidFill>
            <a:srgbClr val="1E3A8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2" name="Text 10"/>
          <p:cNvSpPr/>
          <p:nvPr/>
        </p:nvSpPr>
        <p:spPr>
          <a:xfrm>
            <a:off x="381000" y="3652838"/>
            <a:ext cx="4103736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0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0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Combined: $56B in federal research funding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4556671" y="1890713"/>
            <a:ext cx="4103736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00"/>
              </a:lnSpc>
              <a:spcAft>
                <a:spcPts val="900"/>
              </a:spcAft>
              <a:buNone/>
            </a:pPr>
            <a:r>
              <a:rPr lang="en-US" sz="1350" b="1" dirty="0">
                <a:solidFill>
                  <a:srgbClr val="1E3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Unique Competitive Advantages</a:t>
            </a:r>
            <a:endParaRPr lang="en-US" sz="1350" dirty="0"/>
          </a:p>
        </p:txBody>
      </p:sp>
      <p:sp>
        <p:nvSpPr>
          <p:cNvPr id="14" name="Text 12"/>
          <p:cNvSpPr/>
          <p:nvPr/>
        </p:nvSpPr>
        <p:spPr>
          <a:xfrm>
            <a:off x="4556671" y="2271713"/>
            <a:ext cx="4103736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0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050" b="1" dirty="0">
                <a:solidFill>
                  <a:srgbClr val="0E74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Experimental + Computational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4556671" y="2500313"/>
            <a:ext cx="4103736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0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Sanae's wet lab background lets us serve chemistry/biology labs that pure computational consultants can't access (est. 30-40% of market)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4556671" y="2900363"/>
            <a:ext cx="4103736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0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050" b="1" dirty="0">
                <a:solidFill>
                  <a:srgbClr val="0E74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Two Revenue Generators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4556671" y="3128963"/>
            <a:ext cx="4103736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0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Can handle 2x client load, faster growth, no bottleneck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4556671" y="3376613"/>
            <a:ext cx="4103736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0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050" b="1" dirty="0">
                <a:solidFill>
                  <a:srgbClr val="0E74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 Overlapping Core Skills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4556671" y="3605213"/>
            <a:ext cx="4103736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0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Both: Python, HPC, teaching → mutual backup, no single point of failure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4556671" y="3852863"/>
            <a:ext cx="4103736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0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050" b="1" dirty="0">
                <a:solidFill>
                  <a:srgbClr val="0E74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 Different Networks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4556671" y="4081463"/>
            <a:ext cx="4103736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0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Swabir: HPC community | Sanae: Chemistry/Women in HPC → broader reach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28600" y="228600"/>
            <a:ext cx="4653725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000"/>
              </a:lnSpc>
              <a:spcAft>
                <a:spcPts val="300"/>
              </a:spcAft>
              <a:buNone/>
            </a:pPr>
            <a:r>
              <a:rPr lang="en-US" sz="2700" b="1" dirty="0">
                <a:solidFill>
                  <a:srgbClr val="1E3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Year 1 Financial Projections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228600" y="647700"/>
            <a:ext cx="762000" cy="28575"/>
          </a:xfrm>
          <a:prstGeom prst="rect">
            <a:avLst/>
          </a:prstGeom>
          <a:solidFill>
            <a:srgbClr val="0E749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381000" y="1319213"/>
            <a:ext cx="2933700" cy="723900"/>
          </a:xfrm>
          <a:prstGeom prst="roundRect">
            <a:avLst>
              <a:gd name="adj" fmla="val 8421"/>
            </a:avLst>
          </a:prstGeom>
          <a:solidFill>
            <a:srgbClr val="ECFE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381000" y="1319213"/>
            <a:ext cx="2992374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0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Conservative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381000" y="1509713"/>
            <a:ext cx="2992374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0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2250" b="1" dirty="0">
                <a:solidFill>
                  <a:srgbClr val="1E3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$250K</a:t>
            </a:r>
            <a:endParaRPr lang="en-US" sz="2250" dirty="0"/>
          </a:p>
        </p:txBody>
      </p:sp>
      <p:sp>
        <p:nvSpPr>
          <p:cNvPr id="7" name="Text 5"/>
          <p:cNvSpPr/>
          <p:nvPr/>
        </p:nvSpPr>
        <p:spPr>
          <a:xfrm>
            <a:off x="381000" y="1890713"/>
            <a:ext cx="2992374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0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 projects + 1-2 retainers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381000" y="2157413"/>
            <a:ext cx="2933700" cy="723900"/>
          </a:xfrm>
          <a:prstGeom prst="roundRect">
            <a:avLst>
              <a:gd name="adj" fmla="val 8421"/>
            </a:avLst>
          </a:prstGeom>
          <a:solidFill>
            <a:srgbClr val="1E3A8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" name="Text 7"/>
          <p:cNvSpPr/>
          <p:nvPr/>
        </p:nvSpPr>
        <p:spPr>
          <a:xfrm>
            <a:off x="381000" y="2157413"/>
            <a:ext cx="2992374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0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9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Target (Realistic)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381000" y="2347913"/>
            <a:ext cx="2992374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0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22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$350K</a:t>
            </a:r>
            <a:endParaRPr lang="en-US" sz="2250" dirty="0"/>
          </a:p>
        </p:txBody>
      </p:sp>
      <p:sp>
        <p:nvSpPr>
          <p:cNvPr id="11" name="Text 9"/>
          <p:cNvSpPr/>
          <p:nvPr/>
        </p:nvSpPr>
        <p:spPr>
          <a:xfrm>
            <a:off x="381000" y="2728913"/>
            <a:ext cx="2992374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0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9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 projects + 2-3 retainers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381000" y="2995613"/>
            <a:ext cx="2933700" cy="723900"/>
          </a:xfrm>
          <a:prstGeom prst="roundRect">
            <a:avLst>
              <a:gd name="adj" fmla="val 8421"/>
            </a:avLst>
          </a:prstGeom>
          <a:solidFill>
            <a:srgbClr val="ECFE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3" name="Text 11"/>
          <p:cNvSpPr/>
          <p:nvPr/>
        </p:nvSpPr>
        <p:spPr>
          <a:xfrm>
            <a:off x="381000" y="2995613"/>
            <a:ext cx="2992374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0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Optimistic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381000" y="3186113"/>
            <a:ext cx="2992374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0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2250" b="1" dirty="0">
                <a:solidFill>
                  <a:srgbClr val="0E74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$500K</a:t>
            </a:r>
            <a:endParaRPr lang="en-US" sz="2250" dirty="0"/>
          </a:p>
        </p:txBody>
      </p:sp>
      <p:sp>
        <p:nvSpPr>
          <p:cNvPr id="15" name="Text 13"/>
          <p:cNvSpPr/>
          <p:nvPr/>
        </p:nvSpPr>
        <p:spPr>
          <a:xfrm>
            <a:off x="381000" y="3567113"/>
            <a:ext cx="2992374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0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 projects + 4-5 retainers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381000" y="3919538"/>
            <a:ext cx="2933700" cy="0"/>
          </a:xfrm>
          <a:prstGeom prst="line">
            <a:avLst/>
          </a:prstGeom>
          <a:noFill/>
          <a:ln w="19050">
            <a:solidFill>
              <a:srgbClr val="CBD5E1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81000" y="4081463"/>
            <a:ext cx="2992374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00"/>
              </a:lnSpc>
              <a:spcBef>
                <a:spcPts val="300"/>
              </a:spcBef>
              <a:spcAft>
                <a:spcPts val="600"/>
              </a:spcAft>
              <a:buNone/>
            </a:pPr>
            <a:r>
              <a:rPr lang="en-US" sz="9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Assumptions (Target)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381000" y="4310063"/>
            <a:ext cx="2992374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0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70% utilization (each founder)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381000" y="4500563"/>
            <a:ext cx="2992374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0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$130/hr average rate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381000" y="4691063"/>
            <a:ext cx="2992374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0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2-3 retainer clients</a:t>
            </a:r>
            <a:endParaRPr lang="en-US" sz="900" dirty="0"/>
          </a:p>
        </p:txBody>
      </p:sp>
      <p:graphicFrame>
        <p:nvGraphicFramePr>
          <p:cNvPr id="21" name="Chart 0" descr=""/>
          <p:cNvGraphicFramePr/>
          <p:nvPr/>
        </p:nvGraphicFramePr>
        <p:xfrm>
          <a:off x="3467100" y="1195388"/>
          <a:ext cx="5029200" cy="37719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28600" y="228600"/>
            <a:ext cx="4789742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000"/>
              </a:lnSpc>
              <a:spcAft>
                <a:spcPts val="300"/>
              </a:spcAft>
              <a:buNone/>
            </a:pPr>
            <a:r>
              <a:rPr lang="en-US" sz="2700" b="1" dirty="0">
                <a:solidFill>
                  <a:srgbClr val="1E3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Startup Investment Required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228600" y="647700"/>
            <a:ext cx="762000" cy="28575"/>
          </a:xfrm>
          <a:prstGeom prst="rect">
            <a:avLst/>
          </a:prstGeom>
          <a:solidFill>
            <a:srgbClr val="0E749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381000" y="1766888"/>
            <a:ext cx="3185071" cy="1066800"/>
          </a:xfrm>
          <a:prstGeom prst="roundRect">
            <a:avLst>
              <a:gd name="adj" fmla="val 5714"/>
            </a:avLst>
          </a:prstGeom>
          <a:solidFill>
            <a:srgbClr val="1E3A8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381000" y="1766888"/>
            <a:ext cx="3248772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00"/>
              </a:lnSpc>
              <a:spcBef>
                <a:spcPts val="300"/>
              </a:spcBef>
              <a:spcAft>
                <a:spcPts val="450"/>
              </a:spcAft>
              <a:buNone/>
            </a:pPr>
            <a:r>
              <a:rPr lang="en-US" sz="10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Recommended Launch Budget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381000" y="2014538"/>
            <a:ext cx="3248772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4500"/>
              </a:lnSpc>
              <a:spcBef>
                <a:spcPts val="300"/>
              </a:spcBef>
              <a:spcAft>
                <a:spcPts val="450"/>
              </a:spcAft>
              <a:buNone/>
            </a:pPr>
            <a:r>
              <a:rPr lang="en-US" sz="4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$20K</a:t>
            </a:r>
            <a:endParaRPr lang="en-US" sz="4500" dirty="0"/>
          </a:p>
        </p:txBody>
      </p:sp>
      <p:sp>
        <p:nvSpPr>
          <p:cNvPr id="7" name="Text 5"/>
          <p:cNvSpPr/>
          <p:nvPr/>
        </p:nvSpPr>
        <p:spPr>
          <a:xfrm>
            <a:off x="381000" y="2643188"/>
            <a:ext cx="3248772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0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0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$10K per founder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381000" y="2947988"/>
            <a:ext cx="3248772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00"/>
              </a:lnSpc>
              <a:spcBef>
                <a:spcPts val="300"/>
              </a:spcBef>
              <a:spcAft>
                <a:spcPts val="450"/>
              </a:spcAft>
              <a:buNone/>
            </a:pPr>
            <a:r>
              <a:rPr lang="en-US" sz="9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Budget Range Options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381000" y="3157538"/>
            <a:ext cx="3185071" cy="381000"/>
          </a:xfrm>
          <a:prstGeom prst="roundRect">
            <a:avLst>
              <a:gd name="adj" fmla="val 16000"/>
            </a:avLst>
          </a:prstGeom>
          <a:solidFill>
            <a:srgbClr val="ECFE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457200" y="3271838"/>
            <a:ext cx="3093324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0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9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Bootstrap Minimum: $12.5K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381000" y="3576638"/>
            <a:ext cx="3185071" cy="381000"/>
          </a:xfrm>
          <a:prstGeom prst="roundRect">
            <a:avLst>
              <a:gd name="adj" fmla="val 16000"/>
            </a:avLst>
          </a:prstGeom>
          <a:solidFill>
            <a:srgbClr val="ECFE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2" name="Text 10"/>
          <p:cNvSpPr/>
          <p:nvPr/>
        </p:nvSpPr>
        <p:spPr>
          <a:xfrm>
            <a:off x="457200" y="3690937"/>
            <a:ext cx="3093324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0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9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Professional: $28.5K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381000" y="4052888"/>
            <a:ext cx="3185071" cy="381000"/>
          </a:xfrm>
          <a:prstGeom prst="roundRect">
            <a:avLst>
              <a:gd name="adj" fmla="val 16000"/>
            </a:avLst>
          </a:prstGeom>
          <a:solidFill>
            <a:srgbClr val="0E749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4" name="Text 12"/>
          <p:cNvSpPr/>
          <p:nvPr/>
        </p:nvSpPr>
        <p:spPr>
          <a:xfrm>
            <a:off x="457200" y="4167188"/>
            <a:ext cx="3093324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0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Expected ROI: 832% (Year 1)</a:t>
            </a:r>
            <a:endParaRPr lang="en-US" sz="900" dirty="0"/>
          </a:p>
        </p:txBody>
      </p:sp>
      <p:graphicFrame>
        <p:nvGraphicFramePr>
          <p:cNvPr id="15" name="Chart 0" descr=""/>
          <p:cNvGraphicFramePr/>
          <p:nvPr/>
        </p:nvGraphicFramePr>
        <p:xfrm>
          <a:off x="3718471" y="1258342"/>
          <a:ext cx="4861471" cy="3645991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28600" y="228600"/>
            <a:ext cx="5265801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000"/>
              </a:lnSpc>
              <a:spcAft>
                <a:spcPts val="300"/>
              </a:spcAft>
              <a:buNone/>
            </a:pPr>
            <a:r>
              <a:rPr lang="en-US" sz="2700" b="1" dirty="0">
                <a:solidFill>
                  <a:srgbClr val="1E3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 Breakdown ($20,020 Total)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228600" y="647700"/>
            <a:ext cx="762000" cy="28575"/>
          </a:xfrm>
          <a:prstGeom prst="rect">
            <a:avLst/>
          </a:prstGeom>
          <a:solidFill>
            <a:srgbClr val="0E749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381000" y="2147888"/>
            <a:ext cx="2413843" cy="266700"/>
          </a:xfrm>
          <a:prstGeom prst="roundRect">
            <a:avLst>
              <a:gd name="adj" fmla="val 14286"/>
            </a:avLst>
          </a:prstGeom>
          <a:solidFill>
            <a:srgbClr val="1E3A8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2871043" y="2205038"/>
            <a:ext cx="1496946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0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9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Operating Reserve - $6,500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381000" y="2452688"/>
            <a:ext cx="1729978" cy="266700"/>
          </a:xfrm>
          <a:prstGeom prst="roundRect">
            <a:avLst>
              <a:gd name="adj" fmla="val 14286"/>
            </a:avLst>
          </a:prstGeom>
          <a:solidFill>
            <a:srgbClr val="0E749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2187178" y="2509838"/>
            <a:ext cx="1075688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0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9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Operations - $4,700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381000" y="2757488"/>
            <a:ext cx="1488579" cy="266700"/>
          </a:xfrm>
          <a:prstGeom prst="roundRect">
            <a:avLst>
              <a:gd name="adj" fmla="val 14286"/>
            </a:avLst>
          </a:prstGeom>
          <a:solidFill>
            <a:srgbClr val="3B82F6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" name="Text 7"/>
          <p:cNvSpPr/>
          <p:nvPr/>
        </p:nvSpPr>
        <p:spPr>
          <a:xfrm>
            <a:off x="1945779" y="2814638"/>
            <a:ext cx="764792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0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9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Legal - $4,030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381000" y="3062288"/>
            <a:ext cx="1126480" cy="266700"/>
          </a:xfrm>
          <a:prstGeom prst="roundRect">
            <a:avLst>
              <a:gd name="adj" fmla="val 14286"/>
            </a:avLst>
          </a:prstGeom>
          <a:solidFill>
            <a:srgbClr val="06B6D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1" name="Text 9"/>
          <p:cNvSpPr/>
          <p:nvPr/>
        </p:nvSpPr>
        <p:spPr>
          <a:xfrm>
            <a:off x="1583680" y="3119438"/>
            <a:ext cx="1010867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0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9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Marketing - $3,080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381000" y="3367088"/>
            <a:ext cx="482650" cy="266700"/>
          </a:xfrm>
          <a:prstGeom prst="roundRect">
            <a:avLst>
              <a:gd name="adj" fmla="val 14286"/>
            </a:avLst>
          </a:prstGeom>
          <a:solidFill>
            <a:srgbClr val="14B8A6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3" name="Text 11"/>
          <p:cNvSpPr/>
          <p:nvPr/>
        </p:nvSpPr>
        <p:spPr>
          <a:xfrm>
            <a:off x="939850" y="3424238"/>
            <a:ext cx="971854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0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9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Branding - $1,204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381000" y="3671888"/>
            <a:ext cx="241250" cy="266700"/>
          </a:xfrm>
          <a:prstGeom prst="roundRect">
            <a:avLst>
              <a:gd name="adj" fmla="val 15793"/>
            </a:avLst>
          </a:prstGeom>
          <a:solidFill>
            <a:srgbClr val="10B981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5" name="Text 13"/>
          <p:cNvSpPr/>
          <p:nvPr/>
        </p:nvSpPr>
        <p:spPr>
          <a:xfrm>
            <a:off x="698450" y="3729038"/>
            <a:ext cx="665208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0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9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Tools - $506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4556671" y="1281113"/>
            <a:ext cx="4103736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00"/>
              </a:lnSpc>
              <a:spcAft>
                <a:spcPts val="900"/>
              </a:spcAft>
              <a:buNone/>
            </a:pPr>
            <a:r>
              <a:rPr lang="en-US" sz="1350" b="1" dirty="0">
                <a:solidFill>
                  <a:srgbClr val="1E3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You Get</a:t>
            </a:r>
            <a:endParaRPr lang="en-US" sz="1350" dirty="0"/>
          </a:p>
        </p:txBody>
      </p:sp>
      <p:sp>
        <p:nvSpPr>
          <p:cNvPr id="17" name="Text 15"/>
          <p:cNvSpPr/>
          <p:nvPr/>
        </p:nvSpPr>
        <p:spPr>
          <a:xfrm>
            <a:off x="4556671" y="1662113"/>
            <a:ext cx="4103736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0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05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Legal &amp; Formation ($4,030)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4556671" y="1890713"/>
            <a:ext cx="4103736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0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Attorney-assisted LLC formation</a:t>
            </a:r>
            <a:endParaRPr lang="en-US" sz="900" dirty="0"/>
          </a:p>
          <a:p>
            <a:pPr algn="l" indent="0" marL="0">
              <a:lnSpc>
                <a:spcPts val="120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Co-founder operating agreement</a:t>
            </a:r>
            <a:endParaRPr lang="en-US" sz="900" dirty="0"/>
          </a:p>
          <a:p>
            <a:pPr algn="l" indent="0" marL="0">
              <a:lnSpc>
                <a:spcPts val="120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Professional liability insurance</a:t>
            </a:r>
            <a:endParaRPr lang="en-US" sz="900" dirty="0"/>
          </a:p>
          <a:p>
            <a:pPr algn="l" indent="0" marL="0">
              <a:lnSpc>
                <a:spcPts val="120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Business licenses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4556671" y="2595563"/>
            <a:ext cx="4103736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0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05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Branding &amp; Website ($1,204)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4556671" y="2824163"/>
            <a:ext cx="4103736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0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Professional logo design</a:t>
            </a:r>
            <a:endParaRPr lang="en-US" sz="900" dirty="0"/>
          </a:p>
          <a:p>
            <a:pPr algn="l" indent="0" marL="0">
              <a:lnSpc>
                <a:spcPts val="120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Domain names &amp; business email</a:t>
            </a:r>
            <a:endParaRPr lang="en-US" sz="900" dirty="0"/>
          </a:p>
          <a:p>
            <a:pPr algn="l" indent="0" marL="0">
              <a:lnSpc>
                <a:spcPts val="120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Production-ready website</a:t>
            </a:r>
            <a:endParaRPr lang="en-US" sz="900" dirty="0"/>
          </a:p>
          <a:p>
            <a:pPr algn="l" indent="0" marL="0">
              <a:lnSpc>
                <a:spcPts val="120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Business cards &amp; materials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4556671" y="3529013"/>
            <a:ext cx="4103736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0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05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Marketing &amp; Launch ($3,080)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4556671" y="3757613"/>
            <a:ext cx="410373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0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 major conferences (SC/PEARC or ACS/ECS)</a:t>
            </a:r>
            <a:endParaRPr lang="en-US" sz="900" dirty="0"/>
          </a:p>
          <a:p>
            <a:pPr algn="l" indent="0" marL="0">
              <a:lnSpc>
                <a:spcPts val="120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Professional memberships (US-RSE, ACS, ECS)</a:t>
            </a:r>
            <a:endParaRPr lang="en-US" sz="900" dirty="0"/>
          </a:p>
          <a:p>
            <a:pPr algn="l" indent="0" marL="0">
              <a:lnSpc>
                <a:spcPts val="120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Press release distribution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4556671" y="4310063"/>
            <a:ext cx="4103736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0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05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Operating Reserve ($6,500)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4556671" y="4538663"/>
            <a:ext cx="4103736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0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6-month cash cushion for academic payment cycles</a:t>
            </a:r>
            <a:endParaRPr lang="en-US" sz="900" dirty="0"/>
          </a:p>
          <a:p>
            <a:pPr algn="l" indent="0" marL="0">
              <a:lnSpc>
                <a:spcPts val="120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Buffer for unexpected expenses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28600" y="228600"/>
            <a:ext cx="4245674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000"/>
              </a:lnSpc>
              <a:spcAft>
                <a:spcPts val="300"/>
              </a:spcAft>
              <a:buNone/>
            </a:pPr>
            <a:r>
              <a:rPr lang="en-US" sz="2700" b="1" dirty="0">
                <a:solidFill>
                  <a:srgbClr val="1E3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Competitive Advantages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228600" y="647700"/>
            <a:ext cx="762000" cy="28575"/>
          </a:xfrm>
          <a:prstGeom prst="rect">
            <a:avLst/>
          </a:prstGeom>
          <a:solidFill>
            <a:srgbClr val="0E749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381000" y="1019175"/>
            <a:ext cx="4114800" cy="1276350"/>
          </a:xfrm>
          <a:prstGeom prst="roundRect">
            <a:avLst>
              <a:gd name="adj" fmla="val 4776"/>
            </a:avLst>
          </a:prstGeom>
          <a:solidFill>
            <a:srgbClr val="1E3A8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Shape 3"/>
          <p:cNvSpPr/>
          <p:nvPr/>
        </p:nvSpPr>
        <p:spPr>
          <a:xfrm>
            <a:off x="400050" y="1019175"/>
            <a:ext cx="0" cy="1276350"/>
          </a:xfrm>
          <a:prstGeom prst="line">
            <a:avLst/>
          </a:prstGeom>
          <a:noFill/>
          <a:ln w="38100">
            <a:solidFill>
              <a:srgbClr val="0E749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71500" y="1209675"/>
            <a:ext cx="3847338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00"/>
              </a:lnSpc>
              <a:spcBef>
                <a:spcPts val="300"/>
              </a:spcBef>
              <a:spcAft>
                <a:spcPts val="600"/>
              </a:spcAft>
              <a:buNone/>
            </a:pPr>
            <a:r>
              <a:rPr lang="en-US" sz="13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350" dirty="0"/>
          </a:p>
        </p:txBody>
      </p:sp>
      <p:sp>
        <p:nvSpPr>
          <p:cNvPr id="7" name="Text 5"/>
          <p:cNvSpPr/>
          <p:nvPr/>
        </p:nvSpPr>
        <p:spPr>
          <a:xfrm>
            <a:off x="571500" y="1552575"/>
            <a:ext cx="3847338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00"/>
              </a:lnSpc>
              <a:spcBef>
                <a:spcPts val="300"/>
              </a:spcBef>
              <a:spcAft>
                <a:spcPts val="450"/>
              </a:spcAft>
              <a:buNone/>
            </a:pPr>
            <a:r>
              <a:rPr lang="en-US" sz="10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Lower Cost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571500" y="1800225"/>
            <a:ext cx="3847338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0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9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$100-150/hr vs. $200-400/hr for large consultancies. Better quality than freelancers.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4648200" y="1019175"/>
            <a:ext cx="4114800" cy="1276350"/>
          </a:xfrm>
          <a:prstGeom prst="roundRect">
            <a:avLst>
              <a:gd name="adj" fmla="val 4776"/>
            </a:avLst>
          </a:prstGeom>
          <a:solidFill>
            <a:srgbClr val="1E3A8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Shape 8"/>
          <p:cNvSpPr/>
          <p:nvPr/>
        </p:nvSpPr>
        <p:spPr>
          <a:xfrm>
            <a:off x="4667250" y="1019175"/>
            <a:ext cx="0" cy="1276350"/>
          </a:xfrm>
          <a:prstGeom prst="line">
            <a:avLst/>
          </a:prstGeom>
          <a:noFill/>
          <a:ln w="38100">
            <a:solidFill>
              <a:srgbClr val="0E749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838700" y="1209675"/>
            <a:ext cx="3847338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00"/>
              </a:lnSpc>
              <a:spcBef>
                <a:spcPts val="300"/>
              </a:spcBef>
              <a:spcAft>
                <a:spcPts val="600"/>
              </a:spcAft>
              <a:buNone/>
            </a:pPr>
            <a:r>
              <a:rPr lang="en-US" sz="13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350" dirty="0"/>
          </a:p>
        </p:txBody>
      </p:sp>
      <p:sp>
        <p:nvSpPr>
          <p:cNvPr id="12" name="Text 10"/>
          <p:cNvSpPr/>
          <p:nvPr/>
        </p:nvSpPr>
        <p:spPr>
          <a:xfrm>
            <a:off x="4838700" y="1552575"/>
            <a:ext cx="3847338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00"/>
              </a:lnSpc>
              <a:spcBef>
                <a:spcPts val="300"/>
              </a:spcBef>
              <a:spcAft>
                <a:spcPts val="450"/>
              </a:spcAft>
              <a:buNone/>
            </a:pPr>
            <a:r>
              <a:rPr lang="en-US" sz="10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Domain Breadth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4838700" y="1800225"/>
            <a:ext cx="3847338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0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9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Physics + Chemistry = NSF + NIH ecosystems. Most competitors specialize in one.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381000" y="2428875"/>
            <a:ext cx="4114800" cy="1276350"/>
          </a:xfrm>
          <a:prstGeom prst="roundRect">
            <a:avLst>
              <a:gd name="adj" fmla="val 4776"/>
            </a:avLst>
          </a:prstGeom>
          <a:solidFill>
            <a:srgbClr val="0E749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5" name="Shape 13"/>
          <p:cNvSpPr/>
          <p:nvPr/>
        </p:nvSpPr>
        <p:spPr>
          <a:xfrm>
            <a:off x="400050" y="2428875"/>
            <a:ext cx="0" cy="1276350"/>
          </a:xfrm>
          <a:prstGeom prst="line">
            <a:avLst/>
          </a:prstGeom>
          <a:noFill/>
          <a:ln w="38100">
            <a:solidFill>
              <a:srgbClr val="1E3A8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71500" y="2619375"/>
            <a:ext cx="3847338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00"/>
              </a:lnSpc>
              <a:spcBef>
                <a:spcPts val="300"/>
              </a:spcBef>
              <a:spcAft>
                <a:spcPts val="600"/>
              </a:spcAft>
              <a:buNone/>
            </a:pPr>
            <a:r>
              <a:rPr lang="en-US" sz="13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350" dirty="0"/>
          </a:p>
        </p:txBody>
      </p:sp>
      <p:sp>
        <p:nvSpPr>
          <p:cNvPr id="17" name="Text 15"/>
          <p:cNvSpPr/>
          <p:nvPr/>
        </p:nvSpPr>
        <p:spPr>
          <a:xfrm>
            <a:off x="571500" y="2962275"/>
            <a:ext cx="3847338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00"/>
              </a:lnSpc>
              <a:spcBef>
                <a:spcPts val="300"/>
              </a:spcBef>
              <a:spcAft>
                <a:spcPts val="450"/>
              </a:spcAft>
              <a:buNone/>
            </a:pPr>
            <a:r>
              <a:rPr lang="en-US" sz="10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Experimental-Computational Bridge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571500" y="3209925"/>
            <a:ext cx="3847338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0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9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Sanae's wet lab background opens chemistry/biology market (30-40%) competitors can't access.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4648200" y="2428875"/>
            <a:ext cx="4114800" cy="1276350"/>
          </a:xfrm>
          <a:prstGeom prst="roundRect">
            <a:avLst>
              <a:gd name="adj" fmla="val 4776"/>
            </a:avLst>
          </a:prstGeom>
          <a:solidFill>
            <a:srgbClr val="0E749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0" name="Shape 18"/>
          <p:cNvSpPr/>
          <p:nvPr/>
        </p:nvSpPr>
        <p:spPr>
          <a:xfrm>
            <a:off x="4667250" y="2428875"/>
            <a:ext cx="0" cy="1276350"/>
          </a:xfrm>
          <a:prstGeom prst="line">
            <a:avLst/>
          </a:prstGeom>
          <a:noFill/>
          <a:ln w="38100">
            <a:solidFill>
              <a:srgbClr val="1E3A8A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838700" y="2619375"/>
            <a:ext cx="3847338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00"/>
              </a:lnSpc>
              <a:spcBef>
                <a:spcPts val="300"/>
              </a:spcBef>
              <a:spcAft>
                <a:spcPts val="600"/>
              </a:spcAft>
              <a:buNone/>
            </a:pPr>
            <a:r>
              <a:rPr lang="en-US" sz="13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350" dirty="0"/>
          </a:p>
        </p:txBody>
      </p:sp>
      <p:sp>
        <p:nvSpPr>
          <p:cNvPr id="22" name="Text 20"/>
          <p:cNvSpPr/>
          <p:nvPr/>
        </p:nvSpPr>
        <p:spPr>
          <a:xfrm>
            <a:off x="4838700" y="2962275"/>
            <a:ext cx="3847338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00"/>
              </a:lnSpc>
              <a:spcBef>
                <a:spcPts val="300"/>
              </a:spcBef>
              <a:spcAft>
                <a:spcPts val="450"/>
              </a:spcAft>
              <a:buNone/>
            </a:pPr>
            <a:r>
              <a:rPr lang="en-US" sz="10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Academic Fluency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4838700" y="3209925"/>
            <a:ext cx="3847338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0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9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Both from research institutions. Understand grant cycles, IRB, procurement. "One of us" credibility.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381000" y="3838575"/>
            <a:ext cx="8382000" cy="1123950"/>
          </a:xfrm>
          <a:prstGeom prst="roundRect">
            <a:avLst>
              <a:gd name="adj" fmla="val 5424"/>
            </a:avLst>
          </a:prstGeom>
          <a:solidFill>
            <a:srgbClr val="ECFE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5" name="Shape 23"/>
          <p:cNvSpPr/>
          <p:nvPr/>
        </p:nvSpPr>
        <p:spPr>
          <a:xfrm>
            <a:off x="400050" y="3838575"/>
            <a:ext cx="0" cy="1123950"/>
          </a:xfrm>
          <a:prstGeom prst="line">
            <a:avLst/>
          </a:prstGeom>
          <a:noFill/>
          <a:ln w="38100">
            <a:solidFill>
              <a:srgbClr val="0E749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71500" y="4029075"/>
            <a:ext cx="8199882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00"/>
              </a:lnSpc>
              <a:spcBef>
                <a:spcPts val="300"/>
              </a:spcBef>
              <a:spcAft>
                <a:spcPts val="600"/>
              </a:spcAft>
              <a:buNone/>
            </a:pPr>
            <a:r>
              <a:rPr lang="en-US" sz="1350" b="1" dirty="0">
                <a:solidFill>
                  <a:srgbClr val="1E3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350" dirty="0"/>
          </a:p>
        </p:txBody>
      </p:sp>
      <p:sp>
        <p:nvSpPr>
          <p:cNvPr id="27" name="Text 25"/>
          <p:cNvSpPr/>
          <p:nvPr/>
        </p:nvSpPr>
        <p:spPr>
          <a:xfrm>
            <a:off x="571500" y="4371975"/>
            <a:ext cx="8199882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00"/>
              </a:lnSpc>
              <a:spcBef>
                <a:spcPts val="300"/>
              </a:spcBef>
              <a:spcAft>
                <a:spcPts val="450"/>
              </a:spcAft>
              <a:buNone/>
            </a:pPr>
            <a:r>
              <a:rPr lang="en-US" sz="1050" b="1" dirty="0">
                <a:solidFill>
                  <a:srgbClr val="0E74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Teaching Credentials &amp; Training</a:t>
            </a:r>
            <a:endParaRPr lang="en-US" sz="1050" dirty="0"/>
          </a:p>
        </p:txBody>
      </p:sp>
      <p:sp>
        <p:nvSpPr>
          <p:cNvPr id="28" name="Text 26"/>
          <p:cNvSpPr/>
          <p:nvPr/>
        </p:nvSpPr>
        <p:spPr>
          <a:xfrm>
            <a:off x="571500" y="4619625"/>
            <a:ext cx="8199882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0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Both experienced instructors with Software Carpentries certification. Training workshops = additional revenue ($5-15K each) + better client communication.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28600" y="228600"/>
            <a:ext cx="4245674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000"/>
              </a:lnSpc>
              <a:spcAft>
                <a:spcPts val="300"/>
              </a:spcAft>
              <a:buNone/>
            </a:pPr>
            <a:r>
              <a:rPr lang="en-US" sz="2700" b="1" dirty="0">
                <a:solidFill>
                  <a:srgbClr val="1E3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Investment &amp; Next Steps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228600" y="647700"/>
            <a:ext cx="762000" cy="28575"/>
          </a:xfrm>
          <a:prstGeom prst="rect">
            <a:avLst/>
          </a:prstGeom>
          <a:solidFill>
            <a:srgbClr val="0E749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381000" y="1366838"/>
            <a:ext cx="3771900" cy="1600200"/>
          </a:xfrm>
          <a:prstGeom prst="roundRect">
            <a:avLst>
              <a:gd name="adj" fmla="val 3810"/>
            </a:avLst>
          </a:prstGeom>
          <a:solidFill>
            <a:srgbClr val="1E3A8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533400" y="1557338"/>
            <a:ext cx="3536442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00"/>
              </a:lnSpc>
              <a:spcBef>
                <a:spcPts val="300"/>
              </a:spcBef>
              <a:spcAft>
                <a:spcPts val="600"/>
              </a:spcAft>
              <a:buNone/>
            </a:pPr>
            <a:r>
              <a:rPr lang="en-US" sz="10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Total Investment Needed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533400" y="1824038"/>
            <a:ext cx="353644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5400"/>
              </a:lnSpc>
              <a:spcBef>
                <a:spcPts val="300"/>
              </a:spcBef>
              <a:spcAft>
                <a:spcPts val="600"/>
              </a:spcAft>
              <a:buNone/>
            </a:pPr>
            <a:r>
              <a:rPr lang="en-US" sz="5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$20K</a:t>
            </a:r>
            <a:endParaRPr lang="en-US" sz="5400" dirty="0"/>
          </a:p>
        </p:txBody>
      </p:sp>
      <p:sp>
        <p:nvSpPr>
          <p:cNvPr id="7" name="Text 5"/>
          <p:cNvSpPr/>
          <p:nvPr/>
        </p:nvSpPr>
        <p:spPr>
          <a:xfrm>
            <a:off x="533400" y="2586038"/>
            <a:ext cx="3536442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0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0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$10K per co-founder (50/50 equity)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381000" y="3119438"/>
            <a:ext cx="3771900" cy="762000"/>
          </a:xfrm>
          <a:prstGeom prst="roundRect">
            <a:avLst>
              <a:gd name="adj" fmla="val 8000"/>
            </a:avLst>
          </a:prstGeom>
          <a:solidFill>
            <a:srgbClr val="ECFE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" name="Text 7"/>
          <p:cNvSpPr/>
          <p:nvPr/>
        </p:nvSpPr>
        <p:spPr>
          <a:xfrm>
            <a:off x="381000" y="3119438"/>
            <a:ext cx="3847338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0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05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Expected Year 1 Return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381000" y="3348038"/>
            <a:ext cx="3847338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0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2250" b="1" dirty="0">
                <a:solidFill>
                  <a:srgbClr val="1E3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$93K</a:t>
            </a:r>
            <a:endParaRPr lang="en-US" sz="2250" dirty="0"/>
          </a:p>
        </p:txBody>
      </p:sp>
      <p:sp>
        <p:nvSpPr>
          <p:cNvPr id="11" name="Text 9"/>
          <p:cNvSpPr/>
          <p:nvPr/>
        </p:nvSpPr>
        <p:spPr>
          <a:xfrm>
            <a:off x="381000" y="3729038"/>
            <a:ext cx="3847338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0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 founder (target scenario)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381000" y="3995738"/>
            <a:ext cx="3771900" cy="762000"/>
          </a:xfrm>
          <a:prstGeom prst="roundRect">
            <a:avLst>
              <a:gd name="adj" fmla="val 8000"/>
            </a:avLst>
          </a:prstGeom>
          <a:solidFill>
            <a:srgbClr val="0E749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3" name="Text 11"/>
          <p:cNvSpPr/>
          <p:nvPr/>
        </p:nvSpPr>
        <p:spPr>
          <a:xfrm>
            <a:off x="381000" y="3995738"/>
            <a:ext cx="3847338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0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0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Payback Period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381000" y="4224338"/>
            <a:ext cx="3847338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0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22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2-4 months</a:t>
            </a:r>
            <a:endParaRPr lang="en-US" sz="2250" dirty="0"/>
          </a:p>
        </p:txBody>
      </p:sp>
      <p:sp>
        <p:nvSpPr>
          <p:cNvPr id="15" name="Text 13"/>
          <p:cNvSpPr/>
          <p:nvPr/>
        </p:nvSpPr>
        <p:spPr>
          <a:xfrm>
            <a:off x="381000" y="4605338"/>
            <a:ext cx="3847338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0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9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Once revenue starts flowing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4305300" y="1462088"/>
            <a:ext cx="427482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00"/>
              </a:lnSpc>
              <a:spcAft>
                <a:spcPts val="900"/>
              </a:spcAft>
              <a:buNone/>
            </a:pPr>
            <a:r>
              <a:rPr lang="en-US" sz="1350" b="1" dirty="0">
                <a:solidFill>
                  <a:srgbClr val="1E3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Launch Timeline</a:t>
            </a:r>
            <a:endParaRPr lang="en-US" sz="1350" dirty="0"/>
          </a:p>
        </p:txBody>
      </p:sp>
      <p:sp>
        <p:nvSpPr>
          <p:cNvPr id="17" name="Shape 15"/>
          <p:cNvSpPr/>
          <p:nvPr/>
        </p:nvSpPr>
        <p:spPr>
          <a:xfrm>
            <a:off x="4319588" y="1843088"/>
            <a:ext cx="0" cy="381000"/>
          </a:xfrm>
          <a:prstGeom prst="line">
            <a:avLst/>
          </a:prstGeom>
          <a:noFill/>
          <a:ln w="28575">
            <a:solidFill>
              <a:srgbClr val="1E3A8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448175" y="1843088"/>
            <a:ext cx="4129088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0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05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Week 1: Co-Founder Alignment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4448175" y="2071688"/>
            <a:ext cx="4129088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0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Review materials, trial project, decision to proceed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4319588" y="2319338"/>
            <a:ext cx="0" cy="381000"/>
          </a:xfrm>
          <a:prstGeom prst="line">
            <a:avLst/>
          </a:prstGeom>
          <a:noFill/>
          <a:ln w="28575">
            <a:solidFill>
              <a:srgbClr val="0E749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448175" y="2319338"/>
            <a:ext cx="4129088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0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05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Weeks 2-4: Legal Setup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4448175" y="2547938"/>
            <a:ext cx="4129088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0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Consult attorney, form LLC, co-founder agreement, insurance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4319588" y="2795588"/>
            <a:ext cx="0" cy="381000"/>
          </a:xfrm>
          <a:prstGeom prst="line">
            <a:avLst/>
          </a:prstGeom>
          <a:noFill/>
          <a:ln w="28575">
            <a:solidFill>
              <a:srgbClr val="3B82F6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448175" y="2795588"/>
            <a:ext cx="4129088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0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05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March-April 2026: Launch Prep</a:t>
            </a:r>
            <a:endParaRPr lang="en-US" sz="1050" dirty="0"/>
          </a:p>
        </p:txBody>
      </p:sp>
      <p:sp>
        <p:nvSpPr>
          <p:cNvPr id="25" name="Text 23"/>
          <p:cNvSpPr/>
          <p:nvPr/>
        </p:nvSpPr>
        <p:spPr>
          <a:xfrm>
            <a:off x="4448175" y="3024188"/>
            <a:ext cx="4129088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0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Website live, marketing materials, network activation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4319588" y="3271838"/>
            <a:ext cx="0" cy="381000"/>
          </a:xfrm>
          <a:prstGeom prst="line">
            <a:avLst/>
          </a:prstGeom>
          <a:noFill/>
          <a:ln w="28575">
            <a:solidFill>
              <a:srgbClr val="06B6D4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448175" y="3271838"/>
            <a:ext cx="4129088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0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05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May 2026: Public Launch</a:t>
            </a:r>
            <a:endParaRPr lang="en-US" sz="1050" dirty="0"/>
          </a:p>
        </p:txBody>
      </p:sp>
      <p:sp>
        <p:nvSpPr>
          <p:cNvPr id="28" name="Text 26"/>
          <p:cNvSpPr/>
          <p:nvPr/>
        </p:nvSpPr>
        <p:spPr>
          <a:xfrm>
            <a:off x="4448175" y="3500438"/>
            <a:ext cx="4129088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0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Announcements, outreach campaign, conferences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4319588" y="3748087"/>
            <a:ext cx="0" cy="381000"/>
          </a:xfrm>
          <a:prstGeom prst="line">
            <a:avLst/>
          </a:prstGeom>
          <a:noFill/>
          <a:ln w="28575">
            <a:solidFill>
              <a:srgbClr val="14B8A6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448175" y="3748087"/>
            <a:ext cx="4129088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0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05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June-August 2026: First Projects</a:t>
            </a:r>
            <a:endParaRPr lang="en-US" sz="1050" dirty="0"/>
          </a:p>
        </p:txBody>
      </p:sp>
      <p:sp>
        <p:nvSpPr>
          <p:cNvPr id="31" name="Text 29"/>
          <p:cNvSpPr/>
          <p:nvPr/>
        </p:nvSpPr>
        <p:spPr>
          <a:xfrm>
            <a:off x="4448175" y="3976687"/>
            <a:ext cx="4129088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0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Deliver with excellence, build case studies, testimonials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4305300" y="4281488"/>
            <a:ext cx="4191000" cy="381000"/>
          </a:xfrm>
          <a:prstGeom prst="roundRect">
            <a:avLst>
              <a:gd name="adj" fmla="val 16000"/>
            </a:avLst>
          </a:prstGeom>
          <a:solidFill>
            <a:srgbClr val="ECFE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3" name="Text 31"/>
          <p:cNvSpPr/>
          <p:nvPr/>
        </p:nvSpPr>
        <p:spPr>
          <a:xfrm>
            <a:off x="4263390" y="4281488"/>
            <a:ext cx="427482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50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050" b="1" dirty="0">
                <a:solidFill>
                  <a:srgbClr val="1E3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Success Probability: 75-80%</a:t>
            </a:r>
            <a:endParaRPr lang="en-US" sz="1050" dirty="0"/>
          </a:p>
        </p:txBody>
      </p:sp>
      <p:sp>
        <p:nvSpPr>
          <p:cNvPr id="34" name="Text 32"/>
          <p:cNvSpPr/>
          <p:nvPr/>
        </p:nvSpPr>
        <p:spPr>
          <a:xfrm>
            <a:off x="4263390" y="4510088"/>
            <a:ext cx="427482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20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Strong market demand + exceptional team + low risk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 standalone="yes"?>
<Properties xmlns="http://schemas.openxmlformats.org/officeDocument/2006/extended-properties" xmlns:vt="http://schemas.openxmlformats.org/officeDocument/2006/docPropsVTypes">
	<TotalTime>0</TotalTime>
	<Words>0</Words>
	<Application>Microsoft Office PowerPoint</Application>
	<PresentationFormat>On-screen Show (16:9)</PresentationFormat>
	<Paragraphs>0</Paragraphs>
	<Slides>10</Slides>
	<Notes>10</Notes>
	<HiddenSlides>0</HiddenSlides>
	<MMClips>0</MMClips>
	<ScaleCrop>false</ScaleCrop>
	<HeadingPairs>
		<vt:vector size="6" baseType="variant">
			<vt:variant><vt:lpstr>Fonts Used</vt:lpstr></vt:variant>
			<vt:variant><vt:i4>2</vt:i4></vt:variant>
			<vt:variant><vt:lpstr>Theme</vt:lpstr></vt:variant>
			<vt:variant><vt:i4>1</vt:i4></vt:variant>
			<vt:variant><vt:lpstr>Slide Titles</vt:lpstr></vt:variant>
			<vt:variant><vt:i4>10</vt:i4></vt:variant>
		</vt:vector>
	</HeadingPairs>
	<TitlesOfParts>
		<vt:vector size="13" baseType="lpstr">
			<vt:lpstr>Arial</vt:lpstr>
			<vt:lpstr>Calibri</vt:lpstr>
			<vt:lpstr>Office Theme</vt:lpstr>
			<vt:lpstr>Slide 1</vt:lpstr><vt:lpstr>Slide 2</vt:lpstr><vt:lpstr>Slide 3</vt:lpstr><vt:lpstr>Slide 4</vt:lpstr><vt:lpstr>Slide 5</vt:lpstr><vt:lpstr>Slide 6</vt:lpstr><vt:lpstr>Slide 7</vt:lpstr><vt:lpstr>Slide 8</vt:lpstr><vt:lpstr>Slide 9</vt:lpstr><vt:lpstr>Slide 10</vt:lpstr>
		</vt:vector>
	</TitlesOfParts>
	<Company>Institute for Data-Driven Research & Innovation</Company>
	<LinksUpToDate>false</LinksUpToDate>
	<SharedDoc>false</SharedDoc>
	<HyperlinksChanged>false</HyperlinksChanged>
	<AppVersion>16.0000</AppVersion>
	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IDRIS - From Data to Discovery at Scale</dc:title>
  <dc:subject>IDRIS Business Plan Presentation</dc:subject>
  <dc:creator>IDRIS</dc:creator>
  <cp:lastModifiedBy>IDRIS</cp:lastModifiedBy>
  <cp:revision>1</cp:revision>
  <dcterms:created xsi:type="dcterms:W3CDTF">2026-01-22T21:21:54Z</dcterms:created>
  <dcterms:modified xsi:type="dcterms:W3CDTF">2026-01-22T21:21:54Z</dcterms:modified>
</cp:coreProperties>
</file>